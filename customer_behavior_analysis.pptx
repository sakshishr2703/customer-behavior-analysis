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583680" y="-1371600"/>
            <a:ext cx="4114800" cy="4114800"/>
          </a:xfrm>
          <a:prstGeom prst="ellipse">
            <a:avLst/>
          </a:prstGeom>
          <a:solidFill>
            <a:srgbClr val="7C3AED">
              <a:alpha val="15000"/>
            </a:srgbClr>
          </a:solidFill>
          <a:ln w="12700">
            <a:solidFill>
              <a:srgbClr val="7C3AED">
                <a:alpha val="1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223760" y="-822960"/>
            <a:ext cx="2743200" cy="2743200"/>
          </a:xfrm>
          <a:prstGeom prst="ellipse">
            <a:avLst/>
          </a:prstGeom>
          <a:solidFill>
            <a:srgbClr val="7C3AED">
              <a:alpha val="25000"/>
            </a:srgbClr>
          </a:solidFill>
          <a:ln w="12700">
            <a:solidFill>
              <a:srgbClr val="7C3AED">
                <a:alpha val="25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100584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RETAIL DATA ANALYTICS PROJECT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320040" y="141732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</a:t>
            </a:r>
            <a:endParaRPr lang="en-US" sz="5400" dirty="0"/>
          </a:p>
        </p:txBody>
      </p:sp>
      <p:sp>
        <p:nvSpPr>
          <p:cNvPr id="7" name="Text 5"/>
          <p:cNvSpPr/>
          <p:nvPr/>
        </p:nvSpPr>
        <p:spPr>
          <a:xfrm>
            <a:off x="320040" y="2212848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Behavior Analysis</a:t>
            </a:r>
            <a:endParaRPr lang="en-US" sz="5400" dirty="0"/>
          </a:p>
        </p:txBody>
      </p:sp>
      <p:sp>
        <p:nvSpPr>
          <p:cNvPr id="8" name="Shape 6"/>
          <p:cNvSpPr/>
          <p:nvPr/>
        </p:nvSpPr>
        <p:spPr>
          <a:xfrm>
            <a:off x="320040" y="3218688"/>
            <a:ext cx="2286000" cy="36576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0040" y="33832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 ·  MySQL  ·  Power BI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217920" y="4206240"/>
            <a:ext cx="2743200" cy="777240"/>
          </a:xfrm>
          <a:prstGeom prst="rect">
            <a:avLst/>
          </a:prstGeom>
          <a:solidFill>
            <a:srgbClr val="7C3AED">
              <a:alpha val="20000"/>
            </a:srgbClr>
          </a:solidFill>
          <a:ln w="12700">
            <a:solidFill>
              <a:srgbClr val="7C3AED">
                <a:alpha val="40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309360" y="4251960"/>
            <a:ext cx="25603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Sakshi Sharma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sakshishr2703@gmail.com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0" y="4956048"/>
            <a:ext cx="9144000" cy="18288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926080" cy="514350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82880" y="32004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82880" y="749808"/>
            <a:ext cx="2560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</a:t>
            </a:r>
            <a:endParaRPr lang="en-US" sz="30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182880" y="192024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58368" y="192024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Problem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82880" y="2395728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58368" y="2395728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Preparation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82880" y="2871216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658368" y="2871216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Insights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82880" y="3346704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58368" y="3346704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Overview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" y="3822192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58368" y="3822192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182880" y="429768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658368" y="429768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200400" y="411480"/>
            <a:ext cx="5669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Problem</a:t>
            </a:r>
            <a:endParaRPr lang="en-US" sz="2600" dirty="0"/>
          </a:p>
        </p:txBody>
      </p:sp>
      <p:sp>
        <p:nvSpPr>
          <p:cNvPr id="19" name="Shape 17"/>
          <p:cNvSpPr/>
          <p:nvPr/>
        </p:nvSpPr>
        <p:spPr>
          <a:xfrm>
            <a:off x="3200400" y="960120"/>
            <a:ext cx="5669280" cy="36576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200400" y="1115568"/>
            <a:ext cx="566928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leading retail company wants to better understand its customers' shopping behavior to improve sales, satisfaction, and long-term loyalty.</a:t>
            </a:r>
            <a:endParaRPr lang="en-US" sz="1150" dirty="0"/>
          </a:p>
          <a:p>
            <a:pPr algn="l" indent="0" marL="0">
              <a:lnSpc>
                <a:spcPct val="130000"/>
              </a:lnSpc>
              <a:buNone/>
            </a:pPr>
            <a:endParaRPr lang="en-US" sz="115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Management noticed shifts in purchasing patterns across demographics, product categories, and channels — driven by discounts, reviews, seasons, and payment preferences.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3200400" y="2788920"/>
            <a:ext cx="5669280" cy="123444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200400" y="2788920"/>
            <a:ext cx="64008" cy="123444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364992" y="2852928"/>
            <a:ext cx="53949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2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can the company leverage consumer shopping data to identify trends, improve customer engagement, and optimize marketing and product strategies?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3200400" y="4251960"/>
            <a:ext cx="1737360" cy="59436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200400" y="4251960"/>
            <a:ext cx="1737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5120640" y="4251960"/>
            <a:ext cx="1737360" cy="59436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120640" y="4251960"/>
            <a:ext cx="1737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7040880" y="4251960"/>
            <a:ext cx="1737360" cy="59436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040880" y="4251960"/>
            <a:ext cx="1737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8778240" y="4846320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0"/>
            <a:ext cx="5486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PREPARATION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20040" y="0"/>
            <a:ext cx="8412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 — Python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137160" y="1005840"/>
            <a:ext cx="1645920" cy="347472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37160" y="1005840"/>
            <a:ext cx="1645920" cy="7315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37160" y="1115568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228600" y="1691640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Values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228600" y="2240280"/>
            <a:ext cx="146304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Imputed review_rating using per-category median to preserve accuracy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1920240" y="1005840"/>
            <a:ext cx="1645920" cy="347472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920240" y="1005840"/>
            <a:ext cx="1645920" cy="7315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920240" y="1115568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2011680" y="1691640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Column Names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2011680" y="2240280"/>
            <a:ext cx="146304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Standardized all headers to snake_case for MySQL compatibility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703320" y="1005840"/>
            <a:ext cx="1645920" cy="347472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703320" y="1005840"/>
            <a:ext cx="1645920" cy="73152"/>
          </a:xfrm>
          <a:prstGeom prst="rect">
            <a:avLst/>
          </a:prstGeom>
          <a:solidFill>
            <a:srgbClr val="E11D48"/>
          </a:solidFill>
          <a:ln w="12700">
            <a:solidFill>
              <a:srgbClr val="E11D4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703320" y="1115568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E11D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3794760" y="1691640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 Groups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794760" y="2240280"/>
            <a:ext cx="146304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Created age_group via pd.qcut() → Young Adult, Adult, Middle-aged, Senior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5486400" y="1005840"/>
            <a:ext cx="1645920" cy="347472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486400" y="1005840"/>
            <a:ext cx="1645920" cy="7315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486400" y="1115568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800" dirty="0"/>
          </a:p>
        </p:txBody>
      </p:sp>
      <p:sp>
        <p:nvSpPr>
          <p:cNvPr id="24" name="Text 22"/>
          <p:cNvSpPr/>
          <p:nvPr/>
        </p:nvSpPr>
        <p:spPr>
          <a:xfrm>
            <a:off x="5577840" y="1691640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Freq. Days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577840" y="2240280"/>
            <a:ext cx="146304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Mapped text frequency (Weekly → 7, Monthly → 30…) to numeric day values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7269480" y="1005840"/>
            <a:ext cx="1645920" cy="347472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269480" y="1005840"/>
            <a:ext cx="1645920" cy="7315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269480" y="1115568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2800" dirty="0"/>
          </a:p>
        </p:txBody>
      </p:sp>
      <p:sp>
        <p:nvSpPr>
          <p:cNvPr id="29" name="Text 27"/>
          <p:cNvSpPr/>
          <p:nvPr/>
        </p:nvSpPr>
        <p:spPr>
          <a:xfrm>
            <a:off x="7360920" y="1691640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Redundancy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7360920" y="2240280"/>
            <a:ext cx="146304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Dropped promo_code_used — confirmed 100% identical to discount_applied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137160" y="4663440"/>
            <a:ext cx="8869680" cy="347472"/>
          </a:xfrm>
          <a:prstGeom prst="rect">
            <a:avLst/>
          </a:prstGeom>
          <a:solidFill>
            <a:srgbClr val="E0FDF4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20040" y="4663440"/>
            <a:ext cx="8595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Cleaned dataset exported as final_dataset.csv and imported into MySQL for structured querying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8778240" y="4846320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28600" y="25603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ANALYSIS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228600" y="530352"/>
            <a:ext cx="8686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 — 10 Business Queries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182880" y="1188720"/>
            <a:ext cx="429768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82880" y="1188720"/>
            <a:ext cx="548640" cy="658368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82880" y="1188720"/>
            <a:ext cx="5486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804672" y="1225296"/>
            <a:ext cx="256032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by gender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804672" y="1536192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 / GROUP BY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182880" y="1938528"/>
            <a:ext cx="4297680" cy="658368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82880" y="1938528"/>
            <a:ext cx="548640" cy="658368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82880" y="1938528"/>
            <a:ext cx="5486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804672" y="1975104"/>
            <a:ext cx="256032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Discount users above avg spend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804672" y="2286000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Subquery + WHERE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182880" y="2688336"/>
            <a:ext cx="429768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82880" y="2688336"/>
            <a:ext cx="548640" cy="658368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82880" y="2688336"/>
            <a:ext cx="5486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804672" y="2724912"/>
            <a:ext cx="256032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5 products by review rating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804672" y="3035808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AVG, ORDER BY, LIMIT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182880" y="3438144"/>
            <a:ext cx="4297680" cy="658368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82880" y="3438144"/>
            <a:ext cx="548640" cy="658368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82880" y="3438144"/>
            <a:ext cx="5486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804672" y="3474720"/>
            <a:ext cx="256032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vs Express shipping spend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804672" y="3785616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Conditional GROUP BY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182880" y="4187952"/>
            <a:ext cx="429768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82880" y="4187952"/>
            <a:ext cx="548640" cy="658368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82880" y="4187952"/>
            <a:ext cx="5486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Q5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804672" y="4224528"/>
            <a:ext cx="256032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Subscriber vs non-sub spend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804672" y="4535424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COUNT, AVG, SUM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4754880" y="1188720"/>
            <a:ext cx="429768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754880" y="1188720"/>
            <a:ext cx="548640" cy="658368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754880" y="1188720"/>
            <a:ext cx="5486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Q6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5376672" y="1225296"/>
            <a:ext cx="256032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Most-discounted products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5376672" y="1536192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WHEN + %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4754880" y="1938528"/>
            <a:ext cx="4297680" cy="658368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754880" y="1938528"/>
            <a:ext cx="548640" cy="658368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754880" y="1938528"/>
            <a:ext cx="5486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Q7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5376672" y="1975104"/>
            <a:ext cx="256032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/ Returning / Loyal segments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5376672" y="2286000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CTE + CASE WHEN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>
            <a:off x="4754880" y="2688336"/>
            <a:ext cx="429768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4754880" y="2688336"/>
            <a:ext cx="548640" cy="658368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754880" y="2688336"/>
            <a:ext cx="5486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Q8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5376672" y="2724912"/>
            <a:ext cx="256032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3 products per category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5376672" y="3035808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ROW_NUMBER() Window Fn</a:t>
            </a:r>
            <a:endParaRPr lang="en-US" sz="850" dirty="0"/>
          </a:p>
        </p:txBody>
      </p:sp>
      <p:sp>
        <p:nvSpPr>
          <p:cNvPr id="45" name="Shape 43"/>
          <p:cNvSpPr/>
          <p:nvPr/>
        </p:nvSpPr>
        <p:spPr>
          <a:xfrm>
            <a:off x="4754880" y="3438144"/>
            <a:ext cx="4297680" cy="658368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4754880" y="3438144"/>
            <a:ext cx="548640" cy="658368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754880" y="3438144"/>
            <a:ext cx="5486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Q9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5376672" y="3474720"/>
            <a:ext cx="256032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 buyers &amp; subscriptions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5376672" y="3785616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filter, GROUP BY</a:t>
            </a:r>
            <a:endParaRPr lang="en-US" sz="850" dirty="0"/>
          </a:p>
        </p:txBody>
      </p:sp>
      <p:sp>
        <p:nvSpPr>
          <p:cNvPr id="50" name="Shape 48"/>
          <p:cNvSpPr/>
          <p:nvPr/>
        </p:nvSpPr>
        <p:spPr>
          <a:xfrm>
            <a:off x="4754880" y="4187952"/>
            <a:ext cx="429768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4754880" y="4187952"/>
            <a:ext cx="548640" cy="658368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4754880" y="4187952"/>
            <a:ext cx="5486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Q10</a:t>
            </a:r>
            <a:endParaRPr lang="en-US" sz="1000" dirty="0"/>
          </a:p>
        </p:txBody>
      </p:sp>
      <p:sp>
        <p:nvSpPr>
          <p:cNvPr id="53" name="Text 51"/>
          <p:cNvSpPr/>
          <p:nvPr/>
        </p:nvSpPr>
        <p:spPr>
          <a:xfrm>
            <a:off x="5376672" y="4224528"/>
            <a:ext cx="256032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by age group</a:t>
            </a:r>
            <a:endParaRPr lang="en-US" sz="1000" dirty="0"/>
          </a:p>
        </p:txBody>
      </p:sp>
      <p:sp>
        <p:nvSpPr>
          <p:cNvPr id="54" name="Text 52"/>
          <p:cNvSpPr/>
          <p:nvPr/>
        </p:nvSpPr>
        <p:spPr>
          <a:xfrm>
            <a:off x="5376672" y="4535424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Engineered col, GROUP BY</a:t>
            </a:r>
            <a:endParaRPr lang="en-US" sz="850" dirty="0"/>
          </a:p>
        </p:txBody>
      </p:sp>
      <p:sp>
        <p:nvSpPr>
          <p:cNvPr id="55" name="Text 53"/>
          <p:cNvSpPr/>
          <p:nvPr/>
        </p:nvSpPr>
        <p:spPr>
          <a:xfrm>
            <a:off x="8778240" y="4846320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828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20040" y="47548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Data Reveals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228600" y="1143000"/>
            <a:ext cx="2743200" cy="1554480"/>
          </a:xfrm>
          <a:prstGeom prst="rect">
            <a:avLst/>
          </a:prstGeom>
          <a:solidFill>
            <a:srgbClr val="0D9488">
              <a:alpha val="15000"/>
            </a:srgbClr>
          </a:solidFill>
          <a:ln w="12700">
            <a:solidFill>
              <a:srgbClr val="0D9488">
                <a:alpha val="5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28600" y="1143000"/>
            <a:ext cx="2743200" cy="640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28600" y="1234440"/>
            <a:ext cx="2743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↑ Higher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320040" y="1920240"/>
            <a:ext cx="25603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from</a:t>
            </a:r>
            <a:endParaRPr lang="en-US" sz="11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Subscribers vs Non-Sub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200400" y="1143000"/>
            <a:ext cx="2743200" cy="1554480"/>
          </a:xfrm>
          <a:prstGeom prst="rect">
            <a:avLst/>
          </a:prstGeom>
          <a:solidFill>
            <a:srgbClr val="7C3AED">
              <a:alpha val="15000"/>
            </a:srgbClr>
          </a:solidFill>
          <a:ln w="12700">
            <a:solidFill>
              <a:srgbClr val="7C3AED">
                <a:alpha val="5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200400" y="1143000"/>
            <a:ext cx="2743200" cy="6400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00400" y="1234440"/>
            <a:ext cx="2743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11+</a:t>
            </a:r>
            <a:endParaRPr lang="en-US" sz="3400" dirty="0"/>
          </a:p>
        </p:txBody>
      </p:sp>
      <p:sp>
        <p:nvSpPr>
          <p:cNvPr id="12" name="Text 10"/>
          <p:cNvSpPr/>
          <p:nvPr/>
        </p:nvSpPr>
        <p:spPr>
          <a:xfrm>
            <a:off x="3291840" y="1920240"/>
            <a:ext cx="25603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Purchases define</a:t>
            </a:r>
            <a:endParaRPr lang="en-US" sz="11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Loyal customers (high LTV)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172200" y="1143000"/>
            <a:ext cx="2743200" cy="1554480"/>
          </a:xfrm>
          <a:prstGeom prst="rect">
            <a:avLst/>
          </a:prstGeom>
          <a:solidFill>
            <a:srgbClr val="D97706">
              <a:alpha val="15000"/>
            </a:srgbClr>
          </a:solidFill>
          <a:ln w="12700">
            <a:solidFill>
              <a:srgbClr val="D97706">
                <a:alpha val="50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172200" y="1143000"/>
            <a:ext cx="2743200" cy="6400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172200" y="1234440"/>
            <a:ext cx="2743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5+</a:t>
            </a:r>
            <a:endParaRPr lang="en-US" sz="3400" dirty="0"/>
          </a:p>
        </p:txBody>
      </p:sp>
      <p:sp>
        <p:nvSpPr>
          <p:cNvPr id="16" name="Text 14"/>
          <p:cNvSpPr/>
          <p:nvPr/>
        </p:nvSpPr>
        <p:spPr>
          <a:xfrm>
            <a:off x="6263640" y="1920240"/>
            <a:ext cx="25603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Purchases = high</a:t>
            </a:r>
            <a:endParaRPr lang="en-US" sz="11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Subscription conversion rate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228600" y="2880360"/>
            <a:ext cx="8686800" cy="566928"/>
          </a:xfrm>
          <a:prstGeom prst="rect">
            <a:avLst/>
          </a:prstGeom>
          <a:solidFill>
            <a:srgbClr val="E11D48">
              <a:alpha val="8000"/>
            </a:srgbClr>
          </a:solidFill>
          <a:ln w="12700">
            <a:solidFill>
              <a:srgbClr val="E11D48">
                <a:alpha val="30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28600" y="2880360"/>
            <a:ext cx="64008" cy="566928"/>
          </a:xfrm>
          <a:prstGeom prst="rect">
            <a:avLst/>
          </a:prstGeom>
          <a:solidFill>
            <a:srgbClr val="E11D48"/>
          </a:solidFill>
          <a:ln w="12700">
            <a:solidFill>
              <a:srgbClr val="E11D4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11480" y="2916936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11D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Discounts Don't Always Create Value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11480" y="3154680"/>
            <a:ext cx="8321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High-discount products often have thin margins. Blanket discounting erodes profitability without acquiring high-value customers.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228600" y="3538728"/>
            <a:ext cx="8686800" cy="566928"/>
          </a:xfrm>
          <a:prstGeom prst="rect">
            <a:avLst/>
          </a:prstGeom>
          <a:solidFill>
            <a:srgbClr val="D97706">
              <a:alpha val="8000"/>
            </a:srgbClr>
          </a:solidFill>
          <a:ln w="12700">
            <a:solidFill>
              <a:srgbClr val="D97706">
                <a:alpha val="30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28600" y="3538728"/>
            <a:ext cx="64008" cy="56692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11480" y="3575304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Top-Rated Products Are Under-Promoted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11480" y="3813048"/>
            <a:ext cx="8321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Highest-rated products don't align with highest-revenue items — a missed opportunity to boost conversion.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228600" y="4197096"/>
            <a:ext cx="8686800" cy="566928"/>
          </a:xfrm>
          <a:prstGeom prst="rect">
            <a:avLst/>
          </a:prstGeom>
          <a:solidFill>
            <a:srgbClr val="0D9488">
              <a:alpha val="8000"/>
            </a:srgbClr>
          </a:solidFill>
          <a:ln w="12700">
            <a:solidFill>
              <a:srgbClr val="0D9488">
                <a:alpha val="30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28600" y="4197096"/>
            <a:ext cx="64008" cy="56692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11480" y="4233672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Is Age-Group Concentrated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11480" y="4471416"/>
            <a:ext cx="8321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Certain age segments contribute disproportionately to revenue. Ad spend is not optimally weighted toward them.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8778240" y="4846320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5486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20040" y="0"/>
            <a:ext cx="8412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Strategic Actions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182880" y="960120"/>
            <a:ext cx="4297680" cy="118872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82880" y="960120"/>
            <a:ext cx="640080" cy="11887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023360" y="1033272"/>
            <a:ext cx="384048" cy="228600"/>
          </a:xfrm>
          <a:prstGeom prst="rect">
            <a:avLst/>
          </a:prstGeom>
          <a:solidFill>
            <a:srgbClr val="E11D48"/>
          </a:solidFill>
          <a:ln w="12700">
            <a:solidFill>
              <a:srgbClr val="E11D4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023360" y="1033272"/>
            <a:ext cx="38404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700" dirty="0"/>
          </a:p>
        </p:txBody>
      </p:sp>
      <p:sp>
        <p:nvSpPr>
          <p:cNvPr id="9" name="Text 7"/>
          <p:cNvSpPr/>
          <p:nvPr/>
        </p:nvSpPr>
        <p:spPr>
          <a:xfrm>
            <a:off x="182880" y="960120"/>
            <a:ext cx="640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932688" y="1051560"/>
            <a:ext cx="3017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Expand Subscription Program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932688" y="1417320"/>
            <a:ext cx="34290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Introduce tiered perks — free express shipping, early access, member discounts. Target high-frequency non-subscribers for conversion.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754880" y="960120"/>
            <a:ext cx="4297680" cy="118872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754880" y="960120"/>
            <a:ext cx="640080" cy="11887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595360" y="1033272"/>
            <a:ext cx="384048" cy="228600"/>
          </a:xfrm>
          <a:prstGeom prst="rect">
            <a:avLst/>
          </a:prstGeom>
          <a:solidFill>
            <a:srgbClr val="E11D48"/>
          </a:solidFill>
          <a:ln w="12700">
            <a:solidFill>
              <a:srgbClr val="E11D4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595360" y="1033272"/>
            <a:ext cx="38404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700" dirty="0"/>
          </a:p>
        </p:txBody>
      </p:sp>
      <p:sp>
        <p:nvSpPr>
          <p:cNvPr id="16" name="Text 14"/>
          <p:cNvSpPr/>
          <p:nvPr/>
        </p:nvSpPr>
        <p:spPr>
          <a:xfrm>
            <a:off x="4754880" y="960120"/>
            <a:ext cx="640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5504688" y="1051560"/>
            <a:ext cx="3017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Loyalty / VIP Program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504688" y="1417320"/>
            <a:ext cx="34290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Points, tiered status, and exclusive rewards for Loyal segment (11+ purchases). Small retention gains yield large LTV impact.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182880" y="2331720"/>
            <a:ext cx="4297680" cy="118872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82880" y="2331720"/>
            <a:ext cx="640080" cy="1188720"/>
          </a:xfrm>
          <a:prstGeom prst="rect">
            <a:avLst/>
          </a:prstGeom>
          <a:solidFill>
            <a:srgbClr val="E11D48"/>
          </a:solidFill>
          <a:ln w="12700">
            <a:solidFill>
              <a:srgbClr val="E11D48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023360" y="2404872"/>
            <a:ext cx="384048" cy="228600"/>
          </a:xfrm>
          <a:prstGeom prst="rect">
            <a:avLst/>
          </a:prstGeom>
          <a:solidFill>
            <a:srgbClr val="E11D48"/>
          </a:solidFill>
          <a:ln w="12700">
            <a:solidFill>
              <a:srgbClr val="E11D4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023360" y="2404872"/>
            <a:ext cx="38404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700" dirty="0"/>
          </a:p>
        </p:txBody>
      </p:sp>
      <p:sp>
        <p:nvSpPr>
          <p:cNvPr id="23" name="Text 21"/>
          <p:cNvSpPr/>
          <p:nvPr/>
        </p:nvSpPr>
        <p:spPr>
          <a:xfrm>
            <a:off x="182880" y="2331720"/>
            <a:ext cx="640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932688" y="2423160"/>
            <a:ext cx="3017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 at 5th Purchase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932688" y="2788920"/>
            <a:ext cx="34290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 an in-app/email prompt at the 5th purchase offering a discounted first month — the most subscription-ready trigger point.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4754880" y="2331720"/>
            <a:ext cx="4297680" cy="118872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754880" y="2331720"/>
            <a:ext cx="640080" cy="118872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595360" y="2404872"/>
            <a:ext cx="384048" cy="22860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595360" y="2404872"/>
            <a:ext cx="38404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</a:t>
            </a:r>
            <a:endParaRPr lang="en-US" sz="700" dirty="0"/>
          </a:p>
        </p:txBody>
      </p:sp>
      <p:sp>
        <p:nvSpPr>
          <p:cNvPr id="30" name="Text 28"/>
          <p:cNvSpPr/>
          <p:nvPr/>
        </p:nvSpPr>
        <p:spPr>
          <a:xfrm>
            <a:off x="4754880" y="2331720"/>
            <a:ext cx="640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200" dirty="0"/>
          </a:p>
        </p:txBody>
      </p:sp>
      <p:sp>
        <p:nvSpPr>
          <p:cNvPr id="31" name="Text 29"/>
          <p:cNvSpPr/>
          <p:nvPr/>
        </p:nvSpPr>
        <p:spPr>
          <a:xfrm>
            <a:off x="5504688" y="2423160"/>
            <a:ext cx="3017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Discount Strategy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5504688" y="2788920"/>
            <a:ext cx="34290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 blanket discounts with personalized, behavior-triggered offers. Cross-check high-discount SKUs against margin data.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182880" y="3703320"/>
            <a:ext cx="4297680" cy="118872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182880" y="3703320"/>
            <a:ext cx="640080" cy="1188720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023360" y="3776472"/>
            <a:ext cx="384048" cy="22860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023360" y="3776472"/>
            <a:ext cx="38404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</a:t>
            </a:r>
            <a:endParaRPr lang="en-US" sz="700" dirty="0"/>
          </a:p>
        </p:txBody>
      </p:sp>
      <p:sp>
        <p:nvSpPr>
          <p:cNvPr id="37" name="Text 35"/>
          <p:cNvSpPr/>
          <p:nvPr/>
        </p:nvSpPr>
        <p:spPr>
          <a:xfrm>
            <a:off x="182880" y="3703320"/>
            <a:ext cx="640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2200" dirty="0"/>
          </a:p>
        </p:txBody>
      </p:sp>
      <p:sp>
        <p:nvSpPr>
          <p:cNvPr id="38" name="Text 36"/>
          <p:cNvSpPr/>
          <p:nvPr/>
        </p:nvSpPr>
        <p:spPr>
          <a:xfrm>
            <a:off x="932688" y="3794760"/>
            <a:ext cx="3017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Amplify Top-Rated Products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932688" y="4160520"/>
            <a:ext cx="34290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the 5 highest-rated products in ads, email, and homepage. High ratings are proven conversion drivers for first-time buyers.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4754880" y="3703320"/>
            <a:ext cx="4297680" cy="118872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4754880" y="3703320"/>
            <a:ext cx="640080" cy="11887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8595360" y="3776472"/>
            <a:ext cx="384048" cy="22860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8595360" y="3776472"/>
            <a:ext cx="38404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</a:t>
            </a:r>
            <a:endParaRPr lang="en-US" sz="700" dirty="0"/>
          </a:p>
        </p:txBody>
      </p:sp>
      <p:sp>
        <p:nvSpPr>
          <p:cNvPr id="44" name="Text 42"/>
          <p:cNvSpPr/>
          <p:nvPr/>
        </p:nvSpPr>
        <p:spPr>
          <a:xfrm>
            <a:off x="4754880" y="3703320"/>
            <a:ext cx="640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2200" dirty="0"/>
          </a:p>
        </p:txBody>
      </p:sp>
      <p:sp>
        <p:nvSpPr>
          <p:cNvPr id="45" name="Text 43"/>
          <p:cNvSpPr/>
          <p:nvPr/>
        </p:nvSpPr>
        <p:spPr>
          <a:xfrm>
            <a:off x="5504688" y="3794760"/>
            <a:ext cx="3017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Optimize Ad Spend by Age Group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5504688" y="4160520"/>
            <a:ext cx="34290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Shift budget toward the highest-revenue age segment for premium pushes, while testing lighter campaigns on underperforming groups.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8778240" y="4846320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3200400"/>
            <a:ext cx="4572000" cy="4572000"/>
          </a:xfrm>
          <a:prstGeom prst="ellipse">
            <a:avLst/>
          </a:prstGeom>
          <a:solidFill>
            <a:srgbClr val="7C3AED">
              <a:alpha val="12000"/>
            </a:srgbClr>
          </a:solidFill>
          <a:ln w="12700">
            <a:solidFill>
              <a:srgbClr val="7C3AED">
                <a:alpha val="12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0" y="-914400"/>
            <a:ext cx="3657600" cy="3657600"/>
          </a:xfrm>
          <a:prstGeom prst="ellipse">
            <a:avLst/>
          </a:prstGeom>
          <a:solidFill>
            <a:srgbClr val="0D9488">
              <a:alpha val="12000"/>
            </a:srgbClr>
          </a:solidFill>
          <a:ln w="12700">
            <a:solidFill>
              <a:srgbClr val="0D9488">
                <a:alpha val="12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00584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5800" dirty="0"/>
          </a:p>
        </p:txBody>
      </p:sp>
      <p:sp>
        <p:nvSpPr>
          <p:cNvPr id="6" name="Text 4"/>
          <p:cNvSpPr/>
          <p:nvPr/>
        </p:nvSpPr>
        <p:spPr>
          <a:xfrm>
            <a:off x="457200" y="210312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Behavior Analysis — End-to-End Retail Analytics Project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200400" y="2633472"/>
            <a:ext cx="2743200" cy="36576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74320" y="2880360"/>
            <a:ext cx="2011680" cy="960120"/>
          </a:xfrm>
          <a:prstGeom prst="rect">
            <a:avLst/>
          </a:prstGeom>
          <a:solidFill>
            <a:srgbClr val="7C3AED">
              <a:alpha val="15000"/>
            </a:srgbClr>
          </a:solidFill>
          <a:ln w="12700">
            <a:solidFill>
              <a:srgbClr val="7C3AED">
                <a:alpha val="40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74320" y="2944368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spc="150" kern="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ANALYST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320040" y="3218688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Sakshi Sharma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2468880" y="2880360"/>
            <a:ext cx="2011680" cy="960120"/>
          </a:xfrm>
          <a:prstGeom prst="rect">
            <a:avLst/>
          </a:prstGeom>
          <a:solidFill>
            <a:srgbClr val="7C3AED">
              <a:alpha val="15000"/>
            </a:srgbClr>
          </a:solidFill>
          <a:ln w="12700">
            <a:solidFill>
              <a:srgbClr val="7C3AED">
                <a:alpha val="40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468880" y="2944368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spc="150" kern="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2514600" y="3218688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sakshishr2703@gmail.com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663440" y="2880360"/>
            <a:ext cx="2011680" cy="960120"/>
          </a:xfrm>
          <a:prstGeom prst="rect">
            <a:avLst/>
          </a:prstGeom>
          <a:solidFill>
            <a:srgbClr val="7C3AED">
              <a:alpha val="15000"/>
            </a:srgbClr>
          </a:solidFill>
          <a:ln w="12700">
            <a:solidFill>
              <a:srgbClr val="7C3AED">
                <a:alpha val="40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663440" y="2944368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spc="150" kern="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LINKEDIN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4709160" y="3218688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linkedin.com/in/sakshi2703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6858000" y="2880360"/>
            <a:ext cx="2011680" cy="960120"/>
          </a:xfrm>
          <a:prstGeom prst="rect">
            <a:avLst/>
          </a:prstGeom>
          <a:solidFill>
            <a:srgbClr val="7C3AED">
              <a:alpha val="15000"/>
            </a:srgbClr>
          </a:solidFill>
          <a:ln w="12700">
            <a:solidFill>
              <a:srgbClr val="7C3AED">
                <a:alpha val="4000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858000" y="2944368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spc="150" kern="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</a:t>
            </a:r>
            <a:endParaRPr lang="en-US" sz="750" dirty="0"/>
          </a:p>
        </p:txBody>
      </p:sp>
      <p:sp>
        <p:nvSpPr>
          <p:cNvPr id="19" name="Text 17"/>
          <p:cNvSpPr/>
          <p:nvPr/>
        </p:nvSpPr>
        <p:spPr>
          <a:xfrm>
            <a:off x="6903720" y="3218688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github.com/SAKSHISHR2703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457200" y="41148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 ·  MySQL  ·  Power BI  ·  Google Colab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0" y="4956048"/>
            <a:ext cx="9144000" cy="18288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Customer Behavior Analysis</dc:title>
  <dc:subject>PptxGenJS Presentation</dc:subject>
  <dc:creator>Sakshi Sharma</dc:creator>
  <cp:lastModifiedBy>Sakshi Sharma</cp:lastModifiedBy>
  <cp:revision>1</cp:revision>
  <dcterms:created xsi:type="dcterms:W3CDTF">2026-02-20T09:48:10Z</dcterms:created>
  <dcterms:modified xsi:type="dcterms:W3CDTF">2026-02-20T09:48:10Z</dcterms:modified>
</cp:coreProperties>
</file>